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sobre o SUBTLEX-pt-BR: o que é, de onde veio, o que seus metadados significam e uma aplicação prática combinando o corpus com o spaCy. Cobre a discussão do TC.2 e a demonstração do PC.2.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parte da família SUBTLEX, iniciada por Brysbaert e New com o SUBTLEX-US. A hipótese da família é que frequência medida em legendas prevê melhor o comportamento humano de leitura do que frequência medida em corpus escrito. Destacar o ponto do corpus derivado: não dá para treinar um modelo de linguagem com ele, mas dá para consultar a frequência de qualquer palavra do português.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Coletar texto da internet não é coletar corpus. Metade do trabalho de Tang foi remover duplicatas: o mesmo filme aparece várias vezes no OpenSubtitles em versões diferentes. Ele comparou as distribuições de frequência par a par com divergência de Kullback-Leibler e, em cada grupo de duplicatas, escolheu o arquivo com menos palavras de frequência 1 — que é o menos corrompido por erro de transcrição.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Legenda de filme é diálogo escrito para ser falado — fica mais perto da língua do dia a dia do que jornal ou literatura. Esse é o argumento central da família SUBTLEX inteira, e Tang testou isso para o português brasileiro contra o Corpus Brasileiro: 80 mil entradas em comum na comparação conversacional, 100 mil na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escala Zipf, de van Heuven e colegas (2014), é o log da frequência por bilhão. Ela existe porque a distribuição bruta é impossível de ler: 'que' aparece 2,1 milhões de vezes e 'anastomose' 8 vezes. Em Zipf isso vira 7,54 contra 2,11 — uma escala linear e comparável.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palavras podem ter frequência parecida e significar coisas completamente diferentes para um sistema de PLN. 'jack' aparece dez mil vezes, mas concentrado em 12% dos filmes — é nome de personagem. Sem o CDcount, uma lista de stop words derivada só por frequência engoliria nomes próprios.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fio comum a todos esses usos: um corpus de frequência funciona como régua externa. Você mede o texto que chegou contra o que é normal na língua.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licença costuma passar batido e é séria: CC BY-NC-ND proíbe uso comercial e obras derivadas. Um sistema de PLN em produção que embuta essa tabela está em violação.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de filosofia em relação ao NLTK, que distribui textos completos — Machado, Mac-Morpho, Floresta. Quem quiser corpus de texto com spaCy tem que trazer de fora. É exatamente o que a próxima parte faz, juntando spaCy com SUBTLEX.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Escolhi central de serviços porque é onde essa combinação rende: chamado escrito por usuário mistura linguagem corrente, jargão técnico e erro de digitação, e as três categorias pedem tratamento diferente antes de qualquer classificação automática. A lematização do spaCy é indispensável, porque o SUBTLEX indexa formas, não 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ordenamento sai certo: o chamado médico é o mais difícil, e o de linguagem corrente não dispara alerta nenhum. Repare que o sistema separa dois problemas que parecem iguais — 'compputador' está fora do corpus por ser erro de digitação, 'firmware' está fora por ser jargão técnico legítimo. Distinguir os dois é o passo seguinte: erro de digitação tem vizinho ortográfico frequente, jargão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Fecho: corpus não é dado bruto, é dado com procedência. Saber de onde veio e o que os metadados significam é o que determina se ele serve ou não para o problema em mãos.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no padrão ABNT.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4023360" cy="402336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560320" cy="2560320"/>
          </a:xfrm>
          <a:prstGeom prst="ellipse">
            <a:avLst/>
          </a:prstGeom>
          <a:solidFill>
            <a:srgbClr val="1923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6420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SUBTLEX-pt-BR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1518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palavras extraída de legendas de cinema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dá para fazer com ela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 ·  exercícios TC.2 e PC.2  ·  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corpus de frequências da língua falada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8288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61,6 mi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50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87752" y="1645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79192" y="18288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136.147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450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distintas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72584" y="1645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64024" y="18288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12.104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450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57416" y="1645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48856" y="18288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450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4381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distribui os textos das legendas — só a tabela de frequências extraída delas.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221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autoral. O que se baixa já é característica extraída, não texto bruto.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TANG, K. UCL Working Papers in Linguistics, v. 24, 2012  ·  osf.io/vb5yp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vêm os dados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70078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14984" y="17007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642616" y="17007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25.303 legendas pt-BR do OpenSubtitles.org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23042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42616" y="23042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.srt; fora marcas de tempo, URLs, caracteres estranhos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29077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642616" y="29077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Kullback-Leibler + k-means  →  12.353 arquivos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511296"/>
            <a:ext cx="347472" cy="3474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35112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idioma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642616" y="35112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bayesiano  →  12.104 filmes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347472" cy="3474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4114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ruído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642616" y="41148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 de palavras vistas em 2 filmes ou menos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Legenda se parece com fala, não com escrita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58952" y="190195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011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corpus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719072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65192" y="190195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7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11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corpus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4381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o Corpus Brasileiro  ·  transformação de Fisher: z = 10,63; p &lt; 0,0001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8770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</a:t>
            </a:r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chatbot, triagem, texto escrito por usuário.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serve como</a:t>
            </a:r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referência de vocabulário técnico, jurídico ou acadêmico.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colunas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tudo o que o arquivo .tsv distribui — e delas sai todo o resto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2763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27632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da palavra, em minúsculas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249424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2494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FREQcount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4942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aparece no corpus inteiro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87121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CDcount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71216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quantos dos 12.104 filmes aparece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493008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2C1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4930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Spellcheck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93008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passa no dicionário pt-BR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2245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Derivadas:   </a:t>
            </a:r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por milhão  ·  log da frequência  ·  % de filmes  ·  Zipf, escala de 1 (rara) a 7 (comum)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Frequência sozinha engana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3977640" cy="2395728"/>
          </a:xfrm>
          <a:prstGeom prst="roundRect">
            <a:avLst>
              <a:gd name="adj" fmla="val 3053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58952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CDcount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1762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língua corrente de termo concentrado em poucos filmes.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834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94% dos filmes  →  língua corrente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jack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12% dos filmes  →  nome de personagem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977640" cy="2395728"/>
          </a:xfrm>
          <a:prstGeom prst="roundRect">
            <a:avLst>
              <a:gd name="adj" fmla="val 3053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65192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Spellcheck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21762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vocabulário real do ruído típico de legenda.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2834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78.908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aprovadas   ·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57.239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reprovadas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deixeme · digame · fazêlo · hey · nao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342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intuição do TF-IDF: o que aparece em todo lugar não discrimina nada.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em PLN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72768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22376" y="1865376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dos dados, não de especialista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572768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28616" y="1865376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49240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referência da língua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" y="2889504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vocabulário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17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termina a cauda rara de um modelo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596896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28616" y="2889504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4924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017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raridade média das palavras de um texto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21024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" y="3913632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ortográfica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041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desempate entre candidatos de correção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621024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28616" y="3913632"/>
            <a:ext cx="274320" cy="274320"/>
          </a:xfrm>
          <a:prstGeom prst="ellipse">
            <a:avLst/>
          </a:prstGeom>
          <a:solidFill>
            <a:srgbClr val="6B74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492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Psicolinguística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041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controlados por frequência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não resolve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72768"/>
            <a:ext cx="3977640" cy="1042416"/>
          </a:xfrm>
          <a:prstGeom prst="roundRect">
            <a:avLst>
              <a:gd name="adj" fmla="val 7018"/>
            </a:avLst>
          </a:prstGeom>
          <a:solidFill>
            <a:srgbClr val="1E2A47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956816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9576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2012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9576" y="2103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vocabulário digital recente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572768"/>
            <a:ext cx="3977640" cy="1042416"/>
          </a:xfrm>
          <a:prstGeom prst="roundRect">
            <a:avLst>
              <a:gd name="adj" fmla="val 7018"/>
            </a:avLst>
          </a:prstGeom>
          <a:solidFill>
            <a:srgbClr val="1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4965192" y="1956816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85816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unigramas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85816" y="2103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POS, sem lema, sem fonética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16352"/>
            <a:ext cx="3977640" cy="1042416"/>
          </a:xfrm>
          <a:prstGeom prst="roundRect">
            <a:avLst>
              <a:gd name="adj" fmla="val 7018"/>
            </a:avLst>
          </a:prstGeom>
          <a:solidFill>
            <a:srgbClr val="1E2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3200400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9576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Ficção falada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79576" y="33467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referência de termo técnico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816352"/>
            <a:ext cx="3977640" cy="1042416"/>
          </a:xfrm>
          <a:prstGeom prst="roundRect">
            <a:avLst>
              <a:gd name="adj" fmla="val 7018"/>
            </a:avLst>
          </a:prstGeom>
          <a:solidFill>
            <a:srgbClr val="1E2A47"/>
          </a:solidFill>
          <a:ln/>
        </p:spPr>
      </p:sp>
      <p:sp>
        <p:nvSpPr>
          <p:cNvPr id="16" name="Shape 14"/>
          <p:cNvSpPr/>
          <p:nvPr/>
        </p:nvSpPr>
        <p:spPr>
          <a:xfrm>
            <a:off x="4965192" y="3200400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85816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BY-NC-ND 4.0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85816" y="33467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uso comercial, sem derivadas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spaCy traz pronto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entrega ferramentas e modelos — não distribui corpora como o NLTK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00784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938528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embutidos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1214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 stop words do português, 223 exceções de tokenização, frases de exemplo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0664" y="2907792"/>
            <a:ext cx="347472" cy="3474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treinado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090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tokenização, lema, POS, sintaxe e entidades nomeadas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0664" y="3877056"/>
            <a:ext cx="347472" cy="34747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do modelo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05993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nlp.meta aponta os corpora de treino: UD Bosque e WikiNER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Juntando os dois: triagem de chamados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spaCy processa a frase; o SUBTLEX diz o quanto cada palavra é comum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847088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7556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do usuário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350008" y="19202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60904" y="1645920"/>
            <a:ext cx="1847088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52344" y="17556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52344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 · POS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19202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18888" y="1645920"/>
            <a:ext cx="1847088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10328" y="17556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SUBTLEX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· CD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65976" y="19202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76872" y="1645920"/>
            <a:ext cx="1847088" cy="859536"/>
          </a:xfrm>
          <a:prstGeom prst="roundRect">
            <a:avLst>
              <a:gd name="adj" fmla="val 85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68312" y="17556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8312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sinalizados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1E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2980944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= subtlex.get(token.lemma_)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zipf = log10(info.freq / TOTAL * 1e9)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ausente → jargão ou erro de digitação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3026664"/>
            <a:ext cx="164592" cy="16459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57800" y="29443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tabela  →  </a:t>
            </a:r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jargão ou erro de digitação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3447288"/>
            <a:ext cx="164592" cy="16459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57800" y="3364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Spellcheck falso  →  </a:t>
            </a:r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não dicionarizada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3867912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57800" y="37856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 abaixo de 3  →  </a:t>
            </a:r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rara na língua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 médio das palavras de conteúdo — quanto menor, mais raro o vocabulário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9224" y="1773936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527048" y="17190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anastomose foi realizada sem intercorrências durante o procedimento cirúrgico.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71907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anastomose · intercorrências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" y="2523744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4,54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527048" y="246888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compputador travou e nao consigo abrir o sisttema de chamados.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688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compputador · sisttema · nao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45536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" y="327355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4,60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321868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relatou que o notebook não liga depois da atualização do firmware.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1868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· notebook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CEFF6"/>
          </a:solidFill>
          <a:ln/>
          <a:effectLst>
            <a:outerShdw sx="100000" sy="100000" kx="0" ky="0" algn="bl" rotWithShape="0" blurRad="76200" dist="12700" dir="5400000">
              <a:srgbClr val="9AA3B5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" y="402336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5,70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527048" y="396849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dia, meu computador não está ligando desde ontem.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96849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sinalizado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resumo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36192"/>
            <a:ext cx="8138160" cy="859536"/>
          </a:xfrm>
          <a:prstGeom prst="roundRect">
            <a:avLst>
              <a:gd name="adj" fmla="val 8511"/>
            </a:avLst>
          </a:prstGeom>
          <a:solidFill>
            <a:srgbClr val="1E2A47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" y="1792224"/>
            <a:ext cx="347472" cy="3474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0664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71016" y="168249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processa a língua; SUBTLEX dá evidência de uso real. Um não substitui o outro.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8138160" cy="859536"/>
          </a:xfrm>
          <a:prstGeom prst="roundRect">
            <a:avLst>
              <a:gd name="adj" fmla="val 8511"/>
            </a:avLst>
          </a:prstGeom>
          <a:solidFill>
            <a:srgbClr val="1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740664" y="2834640"/>
            <a:ext cx="347472" cy="3474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71016" y="272491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metadado carrega a informação decisiva — frequência sozinha engana.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621024"/>
            <a:ext cx="8138160" cy="859536"/>
          </a:xfrm>
          <a:prstGeom prst="roundRect">
            <a:avLst>
              <a:gd name="adj" fmla="val 8511"/>
            </a:avLst>
          </a:prstGeom>
          <a:solidFill>
            <a:srgbClr val="1E2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" y="3877056"/>
            <a:ext cx="347472" cy="3474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71016" y="37673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do corpus define onde ele serve. "firmware" não é palavra de filme.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3560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95528" y="1325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TANG, K. A 61 Million Word Corpus of Brazilian Portuguese Film Subtitles as a Resource for Linguistic Research. UCL Working Papers in Linguistics, London, v. 24, p. 208–214, 2012.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98424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1874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SUBTLEX-PT-BR — repositório de dados. Open Science Framework. Disponível em: https://osf.io/vb5yp/. Licença CC BY-NC-ND 4.0.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53288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423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HEUVEN, W. J. B. et al. SUBTLEX-UK: A new and improved word frequency database for British English. Quarterly Journal of Experimental Psychology, v. 67, n. 6, p. 1176–1190, 2014.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" y="2971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BRYSBAERT, M.; NEW, B. Moving beyond Kučera and Francis: A critical evaluation of current word frequency norms. Behavior Research Methods, v. 41, n. 4, p. 977–990, 2009.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63016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AI. spaCy — Industrial-Strength Natural Language Processing. Disponível em: https://spacy.io/api.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17880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CARVALHO, F. G. M. Introdução ao Processamento de Linguagem Natural. Notas de aula. São José dos Campos, 2025.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SUBTLEX-pt-BR</dc:title>
  <dc:subject>PptxGenJS Presentation</dc:subject>
  <dc:creator>Arthur</dc:creator>
  <cp:lastModifiedBy>Arthur</cp:lastModifiedBy>
  <cp:revision>1</cp:revision>
  <dcterms:created xsi:type="dcterms:W3CDTF">2026-09-13T22:37:41Z</dcterms:created>
  <dcterms:modified xsi:type="dcterms:W3CDTF">2026-09-13T22:37:41Z</dcterms:modified>
</cp:coreProperties>
</file>